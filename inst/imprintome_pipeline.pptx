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527D-E116-49B6-AA2D-4FD420E4D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EB7E9-A523-4473-B76A-3522E0220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6852-DE8B-42AA-B83C-C427C5C0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6FA77-2BDF-477E-9185-7D0FDA165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250D5-3861-4C48-B236-3C9DB2AC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F582-B7B4-4D4E-BA98-504AB92C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FA4A1-FADD-4CF7-A718-34358749A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62697-A8EF-4F89-9C44-09010A81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9252-7C72-4BFF-8D27-D55595A9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C15B0-91E0-435E-84C5-8945C79D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39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3D78-4340-4F67-8C46-AD11E1B4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F7B9B-EB43-4F2E-AA9B-BCAE05821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BAC4-B8D0-40B5-A1F8-25E1C277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53C84-18B1-409A-B45C-41EEE3196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C7A8D-1960-4974-859F-5C03E54E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6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1E92-BA50-4D38-BC2C-901EBC9E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998B0-2086-41CB-9818-D1679A159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750A-5B2C-4905-9354-312AAF55E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B6A83-7913-4823-9D01-872F7C99C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3FFB8-05EA-4DFB-A6C8-72948842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B6DB7-8B8C-498E-9C84-164399D3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5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3891-DB2D-4F14-8B4B-57DF272B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48E7D-9972-4303-994D-0B2D0F3A2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07337-387C-4B43-AB2B-5709407F8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8B72B-2E3C-40E5-B4BE-FFD1F423D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9034E3-E00D-4E7D-8931-95764EC54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FC212-CC3D-4DFA-BF1A-3E52F316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7272D-C169-4FC8-A9BE-1D34ADE4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8864F-5384-4639-8B0B-BFC5D998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0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0E32-4A2D-44A4-A36B-4CFD3EAC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BFE46-0133-41A8-9BAE-834AFE1A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6AD59-D2E5-4A7E-B4D5-BECA407FD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D4FE7-AF65-4793-81C7-CB752183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3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767AE8-E1DC-44AF-BDE8-3DA2A7D3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210FF-11FE-40CD-B12D-0679DFB1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C7FF4-EFC3-4930-A83F-1437C974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5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CDA1-819B-480F-BD7A-AB13D5D9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CBA17-2F4E-42C9-8D87-018533F69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E724B-4CE5-4CE6-857D-41EA47E41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FF340-9ED3-4476-AC29-8EF2944D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6D355-CB3D-4406-BBAF-244C6266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57230-DB85-44DE-A335-6C872D8F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8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696B-B753-40F8-95E9-81A51A1D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81F2C-6180-4879-BDC7-3B9F90A21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2D34-4B26-4BD2-BAD5-B8A333253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5A998-F987-4BD4-9AB5-A351F35F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47CE9-CF91-4872-9830-02F231C5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D4208-DA3C-4F09-9B79-C052A2A8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6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2615-154B-419C-89F7-6504E03D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6F6CC-5C45-4619-9739-EBFC0D124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FCFE0-903C-4E72-996A-DE077047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68BC3-26B0-4069-AD02-A206C8A9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8DA62-93C6-4312-9EC2-7365C064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5D2F0-4D57-4413-A461-65128CEA6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55A46-5541-405E-97D6-8391E32E2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04EB9-0EEE-4281-ABC1-DAB867058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7F5C-427B-4B14-9BD9-4D74765D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4E418-2A24-4563-A592-539555DA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4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F8347-3838-4C64-8B41-75FECB159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C2684-FC55-433E-A541-B96A7C1D3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4DCCC-690D-4887-9D37-70D7896B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76081-33FB-42E1-8058-51C4DC1CAE19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4A210-21EC-43AA-B2FD-96C78249F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C0B4E-B6D5-4ABD-AD87-ACC2E88D3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471E7-7397-40F0-A5B3-AECC7A760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6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284FABE-E3E4-462B-9A13-DFA8C8DA053D}"/>
              </a:ext>
            </a:extLst>
          </p:cNvPr>
          <p:cNvGrpSpPr/>
          <p:nvPr/>
        </p:nvGrpSpPr>
        <p:grpSpPr>
          <a:xfrm>
            <a:off x="4660410" y="732186"/>
            <a:ext cx="2028694" cy="1877652"/>
            <a:chOff x="4660410" y="732186"/>
            <a:chExt cx="2028694" cy="18776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F33A10-A358-4E2F-8DC6-19A5D0850570}"/>
                </a:ext>
              </a:extLst>
            </p:cNvPr>
            <p:cNvSpPr/>
            <p:nvPr/>
          </p:nvSpPr>
          <p:spPr>
            <a:xfrm>
              <a:off x="4961904" y="1019303"/>
              <a:ext cx="1727200" cy="13038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5536A4-ABB6-4938-B37E-860575DD184D}"/>
                </a:ext>
              </a:extLst>
            </p:cNvPr>
            <p:cNvSpPr txBox="1"/>
            <p:nvPr/>
          </p:nvSpPr>
          <p:spPr>
            <a:xfrm>
              <a:off x="5363949" y="732186"/>
              <a:ext cx="8373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Patient_ID</a:t>
              </a:r>
              <a:endParaRPr lang="en-US" sz="1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B302FE-4986-466F-A2B5-582C383C6EF6}"/>
                </a:ext>
              </a:extLst>
            </p:cNvPr>
            <p:cNvSpPr txBox="1"/>
            <p:nvPr/>
          </p:nvSpPr>
          <p:spPr>
            <a:xfrm rot="16200000">
              <a:off x="4471737" y="1522618"/>
              <a:ext cx="6543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CpG_ID</a:t>
              </a:r>
              <a:endParaRPr lang="en-US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47F144-71BB-46E7-8CCF-DF98B884A5D7}"/>
                </a:ext>
              </a:extLst>
            </p:cNvPr>
            <p:cNvSpPr txBox="1"/>
            <p:nvPr/>
          </p:nvSpPr>
          <p:spPr>
            <a:xfrm>
              <a:off x="5090765" y="2302061"/>
              <a:ext cx="14047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CpG Beta Matrix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22FF5C0-24EE-4A7E-BD03-CBFB2A22EDCD}"/>
              </a:ext>
            </a:extLst>
          </p:cNvPr>
          <p:cNvSpPr txBox="1"/>
          <p:nvPr/>
        </p:nvSpPr>
        <p:spPr>
          <a:xfrm>
            <a:off x="5528802" y="4530252"/>
            <a:ext cx="1570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Predictors/ Responses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3E975-AB11-482D-AB5A-D7C3887BDC68}"/>
              </a:ext>
            </a:extLst>
          </p:cNvPr>
          <p:cNvSpPr txBox="1"/>
          <p:nvPr/>
        </p:nvSpPr>
        <p:spPr>
          <a:xfrm rot="16200000">
            <a:off x="5139898" y="5286822"/>
            <a:ext cx="8373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Patient_ID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B0AC1-AA8F-4D98-B901-D4C4F40F27B9}"/>
              </a:ext>
            </a:extLst>
          </p:cNvPr>
          <p:cNvSpPr/>
          <p:nvPr/>
        </p:nvSpPr>
        <p:spPr>
          <a:xfrm>
            <a:off x="5692260" y="4773389"/>
            <a:ext cx="1243515" cy="1303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8AD99E-7CCE-425D-834C-4AE8EF3E9AF6}"/>
              </a:ext>
            </a:extLst>
          </p:cNvPr>
          <p:cNvSpPr/>
          <p:nvPr/>
        </p:nvSpPr>
        <p:spPr>
          <a:xfrm>
            <a:off x="10164136" y="4672996"/>
            <a:ext cx="1243515" cy="1303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E05A2-8F7C-4951-8783-E806859F698B}"/>
              </a:ext>
            </a:extLst>
          </p:cNvPr>
          <p:cNvSpPr txBox="1"/>
          <p:nvPr/>
        </p:nvSpPr>
        <p:spPr>
          <a:xfrm>
            <a:off x="5626082" y="6035037"/>
            <a:ext cx="1375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Study Metadata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6E71DA8-F040-474F-B612-4B5CB3DC45C4}"/>
              </a:ext>
            </a:extLst>
          </p:cNvPr>
          <p:cNvGrpSpPr/>
          <p:nvPr/>
        </p:nvGrpSpPr>
        <p:grpSpPr>
          <a:xfrm>
            <a:off x="9121001" y="639852"/>
            <a:ext cx="2004199" cy="1847809"/>
            <a:chOff x="9121001" y="639852"/>
            <a:chExt cx="2004199" cy="184780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0FAFF8-E512-4DE5-8977-8FC5950634F0}"/>
                </a:ext>
              </a:extLst>
            </p:cNvPr>
            <p:cNvSpPr/>
            <p:nvPr/>
          </p:nvSpPr>
          <p:spPr>
            <a:xfrm>
              <a:off x="9398000" y="881137"/>
              <a:ext cx="1727200" cy="13038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6B5553-D88A-4BE2-863D-39504283224E}"/>
                </a:ext>
              </a:extLst>
            </p:cNvPr>
            <p:cNvSpPr txBox="1"/>
            <p:nvPr/>
          </p:nvSpPr>
          <p:spPr>
            <a:xfrm>
              <a:off x="9782914" y="639852"/>
              <a:ext cx="8373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Patient_ID</a:t>
              </a:r>
              <a:endParaRPr lang="en-US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D4B484-89D9-441B-92DF-1FC95C179035}"/>
                </a:ext>
              </a:extLst>
            </p:cNvPr>
            <p:cNvSpPr txBox="1"/>
            <p:nvPr/>
          </p:nvSpPr>
          <p:spPr>
            <a:xfrm rot="16200000">
              <a:off x="8960380" y="1394570"/>
              <a:ext cx="5982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ICR_ID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76BAFA-7456-4DF2-8CBC-25DC3675FA66}"/>
                </a:ext>
              </a:extLst>
            </p:cNvPr>
            <p:cNvSpPr txBox="1"/>
            <p:nvPr/>
          </p:nvSpPr>
          <p:spPr>
            <a:xfrm>
              <a:off x="9602605" y="2179884"/>
              <a:ext cx="1343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ICR Beta Matrix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4D2830C-0856-4D59-B889-C30DF9155D91}"/>
              </a:ext>
            </a:extLst>
          </p:cNvPr>
          <p:cNvSpPr txBox="1"/>
          <p:nvPr/>
        </p:nvSpPr>
        <p:spPr>
          <a:xfrm rot="16200000">
            <a:off x="8240364" y="5256085"/>
            <a:ext cx="8373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Patient_ID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50C885-B014-463A-BF35-8CE4B06F8B53}"/>
              </a:ext>
            </a:extLst>
          </p:cNvPr>
          <p:cNvSpPr/>
          <p:nvPr/>
        </p:nvSpPr>
        <p:spPr>
          <a:xfrm>
            <a:off x="8915711" y="4672993"/>
            <a:ext cx="1243515" cy="1303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89C3B0-E3B3-4D85-9162-CB03C81E5AD1}"/>
              </a:ext>
            </a:extLst>
          </p:cNvPr>
          <p:cNvSpPr txBox="1"/>
          <p:nvPr/>
        </p:nvSpPr>
        <p:spPr>
          <a:xfrm>
            <a:off x="8982548" y="5966622"/>
            <a:ext cx="2360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Data for Statistical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8FCAC0-11B0-4BE2-8B86-E82BB61E2169}"/>
              </a:ext>
            </a:extLst>
          </p:cNvPr>
          <p:cNvSpPr txBox="1"/>
          <p:nvPr/>
        </p:nvSpPr>
        <p:spPr>
          <a:xfrm>
            <a:off x="8809544" y="4392077"/>
            <a:ext cx="1455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Predictors/ Responses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06C1B5-926F-4FEA-9ADA-32584826F51B}"/>
              </a:ext>
            </a:extLst>
          </p:cNvPr>
          <p:cNvSpPr/>
          <p:nvPr/>
        </p:nvSpPr>
        <p:spPr>
          <a:xfrm>
            <a:off x="712515" y="1110124"/>
            <a:ext cx="833054" cy="1303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2E1149-3FC2-40E2-896F-26BDD4FD70D2}"/>
              </a:ext>
            </a:extLst>
          </p:cNvPr>
          <p:cNvSpPr txBox="1"/>
          <p:nvPr/>
        </p:nvSpPr>
        <p:spPr>
          <a:xfrm>
            <a:off x="654354" y="866409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Channel Color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948443-C6EE-470E-85B2-5C4410BB2549}"/>
              </a:ext>
            </a:extLst>
          </p:cNvPr>
          <p:cNvSpPr txBox="1"/>
          <p:nvPr/>
        </p:nvSpPr>
        <p:spPr>
          <a:xfrm rot="16200000">
            <a:off x="191988" y="1630132"/>
            <a:ext cx="7640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Probe_ID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6E05BB-0D4F-40F5-87C6-75DC16482874}"/>
              </a:ext>
            </a:extLst>
          </p:cNvPr>
          <p:cNvSpPr txBox="1"/>
          <p:nvPr/>
        </p:nvSpPr>
        <p:spPr>
          <a:xfrm>
            <a:off x="467639" y="2419154"/>
            <a:ext cx="1514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err="1"/>
              <a:t>Imprintome</a:t>
            </a:r>
            <a:r>
              <a:rPr lang="en-US" sz="1400" b="1" dirty="0"/>
              <a:t> Array</a:t>
            </a:r>
          </a:p>
          <a:p>
            <a:pPr algn="ctr"/>
            <a:r>
              <a:rPr lang="en-US" sz="1400" b="1" dirty="0"/>
              <a:t>Raw Data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A8D3FD47-CB66-44C9-914D-36C9A165B404}"/>
              </a:ext>
            </a:extLst>
          </p:cNvPr>
          <p:cNvSpPr/>
          <p:nvPr/>
        </p:nvSpPr>
        <p:spPr>
          <a:xfrm>
            <a:off x="9972675" y="3305557"/>
            <a:ext cx="457200" cy="833053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67A4F86-836C-4AB2-90BF-56D4E37C5604}"/>
              </a:ext>
            </a:extLst>
          </p:cNvPr>
          <p:cNvSpPr/>
          <p:nvPr/>
        </p:nvSpPr>
        <p:spPr>
          <a:xfrm rot="16200000">
            <a:off x="7405334" y="5078453"/>
            <a:ext cx="457200" cy="833053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3349352A-284C-4D16-84A3-05000638EE9B}"/>
              </a:ext>
            </a:extLst>
          </p:cNvPr>
          <p:cNvSpPr/>
          <p:nvPr/>
        </p:nvSpPr>
        <p:spPr>
          <a:xfrm rot="16200000">
            <a:off x="7784232" y="800090"/>
            <a:ext cx="457200" cy="1939437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DE8958FD-12CC-4345-B1A1-533067A85425}"/>
              </a:ext>
            </a:extLst>
          </p:cNvPr>
          <p:cNvSpPr/>
          <p:nvPr/>
        </p:nvSpPr>
        <p:spPr>
          <a:xfrm rot="16200000">
            <a:off x="3395666" y="743775"/>
            <a:ext cx="457200" cy="1857374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986416-A857-4C36-B762-1C39AD25A5B6}"/>
              </a:ext>
            </a:extLst>
          </p:cNvPr>
          <p:cNvSpPr/>
          <p:nvPr/>
        </p:nvSpPr>
        <p:spPr>
          <a:xfrm>
            <a:off x="2799653" y="1996585"/>
            <a:ext cx="1243515" cy="5519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Manifest File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4AC9DD-A4B4-4F47-8FC7-6AA7AC0B50F6}"/>
              </a:ext>
            </a:extLst>
          </p:cNvPr>
          <p:cNvSpPr/>
          <p:nvPr/>
        </p:nvSpPr>
        <p:spPr>
          <a:xfrm>
            <a:off x="7379995" y="2092738"/>
            <a:ext cx="1243515" cy="564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ICR Atlas File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2ED261-F82F-4562-8B66-77063B021D41}"/>
              </a:ext>
            </a:extLst>
          </p:cNvPr>
          <p:cNvSpPr txBox="1"/>
          <p:nvPr/>
        </p:nvSpPr>
        <p:spPr>
          <a:xfrm>
            <a:off x="1074093" y="3965481"/>
            <a:ext cx="10545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Probe_ID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953DE3-9D64-4433-B7C9-3565F883D79B}"/>
              </a:ext>
            </a:extLst>
          </p:cNvPr>
          <p:cNvSpPr txBox="1"/>
          <p:nvPr/>
        </p:nvSpPr>
        <p:spPr>
          <a:xfrm>
            <a:off x="1111264" y="4990842"/>
            <a:ext cx="8915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CpG_ID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E61364-177D-4813-9D4B-C12BBC3E914C}"/>
              </a:ext>
            </a:extLst>
          </p:cNvPr>
          <p:cNvSpPr txBox="1"/>
          <p:nvPr/>
        </p:nvSpPr>
        <p:spPr>
          <a:xfrm>
            <a:off x="1153745" y="5952241"/>
            <a:ext cx="8066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ICR_ID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9C0DC32-58F3-440F-9DDB-996E32CA78B5}"/>
              </a:ext>
            </a:extLst>
          </p:cNvPr>
          <p:cNvGrpSpPr/>
          <p:nvPr/>
        </p:nvGrpSpPr>
        <p:grpSpPr>
          <a:xfrm rot="5400000">
            <a:off x="1236333" y="4555672"/>
            <a:ext cx="656030" cy="214313"/>
            <a:chOff x="1595438" y="4476750"/>
            <a:chExt cx="700094" cy="214313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0433BEC-7B7E-4FC2-AE5F-C07293249CB6}"/>
                </a:ext>
              </a:extLst>
            </p:cNvPr>
            <p:cNvCxnSpPr/>
            <p:nvPr/>
          </p:nvCxnSpPr>
          <p:spPr>
            <a:xfrm>
              <a:off x="1598757" y="4582085"/>
              <a:ext cx="6967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6C064E4-431E-416F-91CF-2678C73B1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200" y="4581525"/>
              <a:ext cx="133350" cy="1095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8D0C22B-3D96-4208-AECF-4F946CE60939}"/>
                </a:ext>
              </a:extLst>
            </p:cNvPr>
            <p:cNvCxnSpPr>
              <a:cxnSpLocks/>
            </p:cNvCxnSpPr>
            <p:nvPr/>
          </p:nvCxnSpPr>
          <p:spPr>
            <a:xfrm>
              <a:off x="1595438" y="4476750"/>
              <a:ext cx="138112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5304AC3-2687-488A-BA1E-C93F43B0B27C}"/>
              </a:ext>
            </a:extLst>
          </p:cNvPr>
          <p:cNvSpPr txBox="1"/>
          <p:nvPr/>
        </p:nvSpPr>
        <p:spPr>
          <a:xfrm>
            <a:off x="2182075" y="4898509"/>
            <a:ext cx="2748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CpG sites IDed by position on genome.</a:t>
            </a:r>
          </a:p>
          <a:p>
            <a:r>
              <a:rPr lang="en-US" sz="1000" dirty="0"/>
              <a:t>Found in </a:t>
            </a:r>
            <a:r>
              <a:rPr lang="en-US" sz="1000" b="1" dirty="0"/>
              <a:t>MAPINFO</a:t>
            </a:r>
            <a:r>
              <a:rPr lang="en-US" sz="1000" dirty="0"/>
              <a:t> column in </a:t>
            </a:r>
            <a:r>
              <a:rPr lang="en-US" sz="1000" dirty="0" err="1"/>
              <a:t>imprintome</a:t>
            </a:r>
            <a:r>
              <a:rPr lang="en-US" sz="1000" dirty="0"/>
              <a:t> array </a:t>
            </a:r>
            <a:r>
              <a:rPr lang="en-US" sz="1000" b="1" dirty="0"/>
              <a:t>manifest file.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BD406D7-BD2E-46E8-99E7-407185AC8033}"/>
              </a:ext>
            </a:extLst>
          </p:cNvPr>
          <p:cNvGrpSpPr/>
          <p:nvPr/>
        </p:nvGrpSpPr>
        <p:grpSpPr>
          <a:xfrm rot="5400000">
            <a:off x="1257209" y="5550797"/>
            <a:ext cx="588877" cy="214313"/>
            <a:chOff x="1595438" y="4476750"/>
            <a:chExt cx="700094" cy="214313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01D6F95-8E03-4F50-B9BB-E2C4F1B0DF93}"/>
                </a:ext>
              </a:extLst>
            </p:cNvPr>
            <p:cNvCxnSpPr/>
            <p:nvPr/>
          </p:nvCxnSpPr>
          <p:spPr>
            <a:xfrm>
              <a:off x="1598757" y="4582085"/>
              <a:ext cx="6967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97CBA5B-D394-49FA-AFFE-8AE8B79F78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200" y="4581525"/>
              <a:ext cx="133350" cy="1095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0559230-612B-48F4-BD14-4BF68DD67529}"/>
                </a:ext>
              </a:extLst>
            </p:cNvPr>
            <p:cNvCxnSpPr>
              <a:cxnSpLocks/>
            </p:cNvCxnSpPr>
            <p:nvPr/>
          </p:nvCxnSpPr>
          <p:spPr>
            <a:xfrm>
              <a:off x="1595438" y="4476750"/>
              <a:ext cx="138112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9EB66A26-8CA6-407A-B99B-621E3B10B59F}"/>
              </a:ext>
            </a:extLst>
          </p:cNvPr>
          <p:cNvSpPr txBox="1"/>
          <p:nvPr/>
        </p:nvSpPr>
        <p:spPr>
          <a:xfrm>
            <a:off x="2145575" y="5861111"/>
            <a:ext cx="27485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Imprintome</a:t>
            </a:r>
            <a:r>
              <a:rPr lang="en-US" sz="1000" dirty="0"/>
              <a:t> Control regions IDed by a range of genome position.</a:t>
            </a:r>
          </a:p>
          <a:p>
            <a:r>
              <a:rPr lang="en-US" sz="1000" b="1" dirty="0"/>
              <a:t>Found in </a:t>
            </a:r>
            <a:r>
              <a:rPr lang="en-US" sz="1000" b="1" dirty="0" err="1"/>
              <a:t>Imprintome</a:t>
            </a:r>
            <a:r>
              <a:rPr lang="en-US" sz="1000" b="1" dirty="0"/>
              <a:t> atlas file.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CD53CC-8524-4B07-BC6C-6EF2D7441EBE}"/>
              </a:ext>
            </a:extLst>
          </p:cNvPr>
          <p:cNvSpPr txBox="1"/>
          <p:nvPr/>
        </p:nvSpPr>
        <p:spPr>
          <a:xfrm>
            <a:off x="1498553" y="1672461"/>
            <a:ext cx="1111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Patients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3E4297-D97F-4C8C-A859-8260E397D8C7}"/>
              </a:ext>
            </a:extLst>
          </p:cNvPr>
          <p:cNvSpPr txBox="1"/>
          <p:nvPr/>
        </p:nvSpPr>
        <p:spPr>
          <a:xfrm>
            <a:off x="9323340" y="2469520"/>
            <a:ext cx="20193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Beta values could be continuous variable or binary </a:t>
            </a:r>
            <a:r>
              <a:rPr lang="en-US" sz="1100" i="1" dirty="0" err="1"/>
              <a:t>thresholded</a:t>
            </a:r>
            <a:r>
              <a:rPr lang="en-US" sz="1100" i="1" dirty="0"/>
              <a:t> for hemi-methylated state.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3535CC-6F7F-4CB2-9BA6-754D75FD5290}"/>
              </a:ext>
            </a:extLst>
          </p:cNvPr>
          <p:cNvSpPr txBox="1"/>
          <p:nvPr/>
        </p:nvSpPr>
        <p:spPr>
          <a:xfrm>
            <a:off x="809226" y="3456054"/>
            <a:ext cx="3926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Mapping Measurements to Final Output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EDE5D52-BB47-4B92-904E-6FBE1D243ABF}"/>
              </a:ext>
            </a:extLst>
          </p:cNvPr>
          <p:cNvSpPr txBox="1"/>
          <p:nvPr/>
        </p:nvSpPr>
        <p:spPr>
          <a:xfrm>
            <a:off x="2193697" y="4013552"/>
            <a:ext cx="2748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Found in raw data files and manifest file.</a:t>
            </a:r>
            <a:endParaRPr 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A2D513-E1AD-452E-A9C4-B4BAB362272F}"/>
              </a:ext>
            </a:extLst>
          </p:cNvPr>
          <p:cNvSpPr txBox="1"/>
          <p:nvPr/>
        </p:nvSpPr>
        <p:spPr>
          <a:xfrm>
            <a:off x="5273079" y="1506794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Beta Values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FA095E-12E2-472E-A9D9-7242B4849D0C}"/>
              </a:ext>
            </a:extLst>
          </p:cNvPr>
          <p:cNvSpPr txBox="1"/>
          <p:nvPr/>
        </p:nvSpPr>
        <p:spPr>
          <a:xfrm>
            <a:off x="9735605" y="1353340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Beta Values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508F02-3825-4838-8F6F-8F4CED5A6372}"/>
              </a:ext>
            </a:extLst>
          </p:cNvPr>
          <p:cNvSpPr txBox="1"/>
          <p:nvPr/>
        </p:nvSpPr>
        <p:spPr>
          <a:xfrm>
            <a:off x="10252328" y="5171910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Beta Values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AA3174-AF4D-4556-93EC-D234940FD240}"/>
              </a:ext>
            </a:extLst>
          </p:cNvPr>
          <p:cNvSpPr txBox="1"/>
          <p:nvPr/>
        </p:nvSpPr>
        <p:spPr>
          <a:xfrm>
            <a:off x="821827" y="1497826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Flour.</a:t>
            </a:r>
          </a:p>
          <a:p>
            <a:r>
              <a:rPr lang="en-US" sz="1400" i="1" dirty="0"/>
              <a:t>Signal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494AFF-24AB-49C4-89BB-17548B55C564}"/>
              </a:ext>
            </a:extLst>
          </p:cNvPr>
          <p:cNvSpPr txBox="1"/>
          <p:nvPr/>
        </p:nvSpPr>
        <p:spPr>
          <a:xfrm>
            <a:off x="532869" y="4461312"/>
            <a:ext cx="811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Beta values </a:t>
            </a:r>
          </a:p>
          <a:p>
            <a:r>
              <a:rPr lang="en-US" sz="1000" i="1" dirty="0"/>
              <a:t>averaged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B2B189-2F63-4A7E-BEE6-EF3FB9464C02}"/>
              </a:ext>
            </a:extLst>
          </p:cNvPr>
          <p:cNvSpPr txBox="1"/>
          <p:nvPr/>
        </p:nvSpPr>
        <p:spPr>
          <a:xfrm>
            <a:off x="532869" y="5479687"/>
            <a:ext cx="811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Beta values </a:t>
            </a:r>
          </a:p>
          <a:p>
            <a:r>
              <a:rPr lang="en-US" sz="1000" i="1" dirty="0"/>
              <a:t>averaged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34D8D3-F0D3-43C8-B67C-709BF19E6650}"/>
              </a:ext>
            </a:extLst>
          </p:cNvPr>
          <p:cNvSpPr txBox="1"/>
          <p:nvPr/>
        </p:nvSpPr>
        <p:spPr>
          <a:xfrm>
            <a:off x="10463622" y="4391632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ICR_ID</a:t>
            </a:r>
          </a:p>
        </p:txBody>
      </p:sp>
    </p:spTree>
    <p:extLst>
      <p:ext uri="{BB962C8B-B14F-4D97-AF65-F5344CB8AC3E}">
        <p14:creationId xmlns:p14="http://schemas.microsoft.com/office/powerpoint/2010/main" val="818306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141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Bruce Allen Corliss</dc:creator>
  <cp:lastModifiedBy>Bruce Allen Corliss</cp:lastModifiedBy>
  <cp:revision>8</cp:revision>
  <dcterms:created xsi:type="dcterms:W3CDTF">2023-11-08T19:17:38Z</dcterms:created>
  <dcterms:modified xsi:type="dcterms:W3CDTF">2023-11-08T19:50:23Z</dcterms:modified>
</cp:coreProperties>
</file>